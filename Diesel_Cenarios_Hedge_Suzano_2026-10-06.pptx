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c879b43-ee92-8739-3c2f-f93f282809b5}">
          <p14:sldIdLst>
            <p14:sldId id="256"/>
            <p14:sldId id="257"/>
          </p14:sldIdLst>
        </p14:section>
        <p14:section name="Cenários" id="{c77a5c2e-84db-d9dd-121e-40e71a2e81b1}">
          <p14:sldIdLst>
            <p14:sldId id="258"/>
            <p14:sldId id="259"/>
            <p14:sldId id="260"/>
            <p14:sldId id="261"/>
          </p14:sldIdLst>
        </p14:section>
        <p14:section name="Hedge" id="{963538b1-6c15-c8f0-9047-336363bf998d}">
          <p14:sldIdLst>
            <p14:sldId id="262"/>
            <p14:sldId id="263"/>
            <p14:sldId id="264"/>
            <p14:sldId id="265"/>
            <p14:sldId id="266"/>
          </p14:sldIdLst>
        </p14:section>
        <p14:section name="Apoio" id="{68bcfc25-4f09-630e-c4fc-0a1b0df89ab4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Pago pelo distribuidor</c:v>
                </c:pt>
              </c:strCache>
            </c:strRef>
          </c:tx>
          <c:spPr>
            <a:solidFill>
              <a:srgbClr val="4A5A6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Diesel A, base Paulínia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Subvenção federal</c:v>
                </c:pt>
              </c:strCache>
            </c:strRef>
          </c:tx>
          <c:spPr>
            <a:solidFill>
              <a:srgbClr val="00873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Diesel A, base Paulínia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2.12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Defasagem restante até a paridade</c:v>
                </c:pt>
              </c:strCache>
            </c:strRef>
          </c:tx>
          <c:spPr>
            <a:solidFill>
              <a:srgbClr val="9B2D2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Diesel A, base Paulínia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1.31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7211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b"/>
        <c:majorGridlines>
          <c:spPr>
            <a:ln w="9525" cap="flat">
              <a:solidFill>
                <a:srgbClr val="DDE1E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C6872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C6872"/>
                    </a:solidFill>
                    <a:latin typeface="Arial"/>
                  </a:rPr>
                  <a:t>R$ por litro de diesel A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8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7211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Preço ao distribuidor (diesel A)</c:v>
                </c:pt>
              </c:strCache>
            </c:strRef>
          </c:tx>
          <c:spPr>
            <a:solidFill>
              <a:srgbClr val="00873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7211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 Desescalada</c:v>
                  </c:pt>
                  <c:pt idx="1">
                    <c:v>2. Status quo</c:v>
                  </c:pt>
                  <c:pt idx="2">
                    <c:v>3. Parcial</c:v>
                  </c:pt>
                  <c:pt idx="3">
                    <c:v>4. Fim total</c:v>
                  </c:pt>
                  <c:pt idx="4">
                    <c:v>Teto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3.3</c:v>
                </c:pt>
                <c:pt idx="1">
                  <c:v>3.3</c:v>
                </c:pt>
                <c:pt idx="2">
                  <c:v>4.3</c:v>
                </c:pt>
                <c:pt idx="3">
                  <c:v>5.42</c:v>
                </c:pt>
                <c:pt idx="4">
                  <c:v>6.65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400" u="none">
                  <a:solidFill>
                    <a:srgbClr val="17211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7211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0"/>
        </c:scaling>
        <c:delete val="0"/>
        <c:axPos val="l"/>
        <c:majorGridlines>
          <c:spPr>
            <a:ln w="9525" cap="flat">
              <a:solidFill>
                <a:srgbClr val="DDE1E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C6872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C6872"/>
                    </a:solidFill>
                    <a:latin typeface="Arial"/>
                  </a:rPr>
                  <a:t>R$ por litro de diesel A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8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Paridade de importação estimada (R$/L)</c:v>
                </c:pt>
              </c:strCache>
            </c:strRef>
          </c:tx>
          <c:spPr>
            <a:solidFill>
              <a:srgbClr val="00873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7211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Desescalada: HO 3,80 e R$ 4,90</c:v>
                  </c:pt>
                  <c:pt idx="1">
                    <c:v>Base: HO 4,50 e R$ 5,10</c:v>
                  </c:pt>
                  <c:pt idx="2">
                    <c:v>Escalada: HO 5,50 e R$ 5,40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5.65</c:v>
                </c:pt>
                <c:pt idx="1">
                  <c:v>6.79</c:v>
                </c:pt>
                <c:pt idx="2">
                  <c:v>8.58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400" u="none">
                  <a:solidFill>
                    <a:srgbClr val="17211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211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9525" cap="flat">
              <a:solidFill>
                <a:srgbClr val="DDE1E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C6872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C6872"/>
                    </a:solidFill>
                    <a:latin typeface="Arial"/>
                  </a:rPr>
                  <a:t>R$ por litro de diesel A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8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 proteção (preço Petrobras)</c:v>
                </c:pt>
              </c:strCache>
            </c:strRef>
          </c:tx>
          <c:spPr>
            <a:solidFill>
              <a:srgbClr val="4A5A6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7211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Status quo</c:v>
                  </c:pt>
                  <c:pt idx="1">
                    <c:v>Parcial</c:v>
                  </c:pt>
                  <c:pt idx="2">
                    <c:v>Fim total</c:v>
                  </c:pt>
                  <c:pt idx="3">
                    <c:v>Paridade (base)</c:v>
                  </c:pt>
                  <c:pt idx="4">
                    <c:v>Paridade (escalada)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</c:v>
                </c:pt>
                <c:pt idx="1">
                  <c:v>43</c:v>
                </c:pt>
                <c:pt idx="2">
                  <c:v>54.2</c:v>
                </c:pt>
                <c:pt idx="3">
                  <c:v>68</c:v>
                </c:pt>
                <c:pt idx="4">
                  <c:v>85.8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 call de paridade (strike R$ 6,8; sem prêmio)</c:v>
                </c:pt>
              </c:strCache>
            </c:strRef>
          </c:tx>
          <c:spPr>
            <a:solidFill>
              <a:srgbClr val="00873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7211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Status quo</c:v>
                  </c:pt>
                  <c:pt idx="1">
                    <c:v>Parcial</c:v>
                  </c:pt>
                  <c:pt idx="2">
                    <c:v>Fim total</c:v>
                  </c:pt>
                  <c:pt idx="3">
                    <c:v>Paridade (base)</c:v>
                  </c:pt>
                  <c:pt idx="4">
                    <c:v>Paridade (escalada)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</c:v>
                </c:pt>
                <c:pt idx="1">
                  <c:v>43</c:v>
                </c:pt>
                <c:pt idx="2">
                  <c:v>54.2</c:v>
                </c:pt>
                <c:pt idx="3">
                  <c:v>68</c:v>
                </c:pt>
                <c:pt idx="4">
                  <c:v>68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7211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211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DDE1E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C6872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C6872"/>
                    </a:solidFill>
                    <a:latin typeface="Arial"/>
                  </a:rPr>
                  <a:t>R$ milhões por 10 mil m³ em dezembro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8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7211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da call: a Suzano pediu hedge de diesel A (referência Petrobras) e não temos produto direto. A tese é oferecer proteção por paridade de importação para dezembro, com franqueza sobre onde ela protege e onde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números para abrir: R$ 2,12 de subvenção, R$ 3,27 de defasagem e a faixa de R$ 5,42 a 6,65 por litro ao distribuidor se a subvenção acabar. A mensagem: o risco de dezembro é político e de mercado ao mesmo tempo; só a parte de mercado é hedgeável.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base de cálculo de todos os cenários. O preço bruto de R$ 5,42 é uma inferência (preço líquido mais subvenção) e precisa ser confirmado com a Petrobras ou com a tabela de preços.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Leitura: status quo é o mais provável no curto prazo porque o governo renovou a subvenção duas vezes e o 2º turno pesa. O cenário 4 exige uma decisão fiscal forte. O teto é um limite matemático.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Preço ao distribuidor de diesel A em cada cenário; o teto usa a paridade de importação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subvenção for renovada, o cenário 2 se mantém por mais 30 dias. A decisão cai no dia seguinte ao 2º turno, então o desfecho eleitoral influencia câmbio e fiscal ao mesmo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Franqueza ajuda a credibilidade: dizer logo que a decisão política não tem instrumento. O argumento é a correlação entre paridade alta e reajuste.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 de dezembro está entre US$ 4,4 e 4,6/gal conforme a fonte (curva em backwardation). Câmbio base de R$ 5,10 inclui pontos de termo estimados; o Focus projetava R$ 5,20 antes do 1º turno.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forte é o teto e a escalada. No cenário 4 o hedge importado não paga, a menos que a paridade suba também. Dizer isso na call e vender como seguro de cauda e de convergência.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Preparar respostas para os pontos fracos. A recomendação é call, não swap, e cobertura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Prêmio e strike dependem de cotação da mesa. Hedge accounting e registro do derivativo devem passar por tesouraria, contabilidade e jurídico da Suzano.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3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5DB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Preparação call Suzano · uso interno · 6/out/2026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pacemoney.com.br/economia/governo-estende-subvencao-diesel-30-dias" TargetMode="External"/><Relationship Id="rId2" Type="http://schemas.openxmlformats.org/officeDocument/2006/relationships/hyperlink" Target="https://www12.senado.leg.br/noticias/materias/2026/09/14/medida-provisoria-estende-subsidio-para-baratear-diesel" TargetMode="External"/><Relationship Id="rId3" Type="http://schemas.openxmlformats.org/officeDocument/2006/relationships/hyperlink" Target="https://clickpetroleoegas.com.br/diesel-da-petrobras-diferenca-para-o-preco-de-importacao-cai-de-r-3-67-para-r-3-27-por-litro-em-um-dia-diz-abicom-e-defasagem-recua-a-100-btl96/" TargetMode="External"/><Relationship Id="rId4" Type="http://schemas.openxmlformats.org/officeDocument/2006/relationships/hyperlink" Target="https://www.suno.com.br/noticias/itau-bba-defasagem-corte-diesel-petrobras-petr4/" TargetMode="External"/><Relationship Id="rId5" Type="http://schemas.openxmlformats.org/officeDocument/2006/relationships/hyperlink" Target="https://www.infomoney.com.br/mercados/petrobras-petr4-alta-de-r-1-no-diesel-e-suficiente-analistas-veem-defasagem-persistente/" TargetMode="External"/><Relationship Id="rId6" Type="http://schemas.openxmlformats.org/officeDocument/2006/relationships/hyperlink" Target="https://www.sec.gov/Archives/edgar/data/0000909327/000090932726000064/earningsrelease_2t26xen.htm" TargetMode="External"/><Relationship Id="rId7" Type="http://schemas.openxmlformats.org/officeDocument/2006/relationships/hyperlink" Target="https://discoveryalert.com/analysis/oil-price-prediction-2027-brent-october-2026/" TargetMode="External"/><Relationship Id="rId8" Type="http://schemas.openxmlformats.org/officeDocument/2006/relationships/hyperlink" Target="https://www.poder360.com.br/poder-economia/dolar-cai-mais-de-4-e-fica-abaixo-dos-r-5-apos-1o-turno/" TargetMode="External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-yellow"/>
          <p:cNvSpPr/>
          <p:nvPr/>
        </p:nvSpPr>
        <p:spPr>
          <a:xfrm>
            <a:off x="9509760" y="4297680"/>
            <a:ext cx="4206240" cy="4206240"/>
          </a:xfrm>
          <a:prstGeom prst="ellipse">
            <a:avLst/>
          </a:prstGeom>
          <a:solidFill>
            <a:srgbClr val="FFCB05"/>
          </a:solidFill>
          <a:ln w="12700">
            <a:solidFill>
              <a:srgbClr val="FFCB05"/>
            </a:solidFill>
            <a:prstDash val="solid"/>
          </a:ln>
        </p:spPr>
      </p:sp>
      <p:sp>
        <p:nvSpPr>
          <p:cNvPr id="3" name="motif-green"/>
          <p:cNvSpPr/>
          <p:nvPr/>
        </p:nvSpPr>
        <p:spPr>
          <a:xfrm>
            <a:off x="8412480" y="5120640"/>
            <a:ext cx="2926080" cy="2926080"/>
          </a:xfrm>
          <a:prstGeom prst="ellipse">
            <a:avLst/>
          </a:prstGeom>
          <a:solidFill>
            <a:srgbClr val="00A859"/>
          </a:solidFill>
          <a:ln w="12700">
            <a:solidFill>
              <a:srgbClr val="00A859"/>
            </a:solidFill>
            <a:prstDash val="solid"/>
          </a:ln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182880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Diesel pós-eleição: cenários de reajuste e hedge por paridade de importação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9319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5DB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Preparação para a call com a Suzano · 6 de outubro de 2026 · material de uso interno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subvenção vence um dia depois do 2º turno e define o diesel de dezembro</a:t>
            </a:r>
            <a:endParaRPr lang="en-US" sz="3200" dirty="0"/>
          </a:p>
        </p:txBody>
      </p:sp>
      <p:sp>
        <p:nvSpPr>
          <p:cNvPr id="3" name="stat-card-1"/>
          <p:cNvSpPr/>
          <p:nvPr/>
        </p:nvSpPr>
        <p:spPr>
          <a:xfrm>
            <a:off x="548640" y="1600200"/>
            <a:ext cx="3566160" cy="2468880"/>
          </a:xfrm>
          <a:prstGeom prst="roundRect">
            <a:avLst>
              <a:gd name="adj" fmla="val 2963"/>
            </a:avLst>
          </a:prstGeom>
          <a:solidFill>
            <a:srgbClr val="EDF2EE"/>
          </a:solidFill>
          <a:ln w="12700">
            <a:solidFill>
              <a:srgbClr val="EDF2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83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8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R$ 2,12/L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060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subvenção federal que segura o preço ao distribuidor em R$ 3,30/L (vence em 26/out, renovável)</a:t>
            </a:r>
            <a:endParaRPr lang="en-US" sz="1600" dirty="0"/>
          </a:p>
        </p:txBody>
      </p:sp>
      <p:sp>
        <p:nvSpPr>
          <p:cNvPr id="6" name="stat-card-2"/>
          <p:cNvSpPr/>
          <p:nvPr/>
        </p:nvSpPr>
        <p:spPr>
          <a:xfrm>
            <a:off x="4297680" y="1600200"/>
            <a:ext cx="3566160" cy="2468880"/>
          </a:xfrm>
          <a:prstGeom prst="roundRect">
            <a:avLst>
              <a:gd name="adj" fmla="val 2963"/>
            </a:avLst>
          </a:prstGeom>
          <a:solidFill>
            <a:srgbClr val="EDF2EE"/>
          </a:solidFill>
          <a:ln w="12700">
            <a:solidFill>
              <a:srgbClr val="EDF2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783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8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R$ 3,27/L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6060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defasagem média da Petrobras frente à paridade de importação (Abicom, 2/out); paridade em Paulínia R$ 6,73/L</a:t>
            </a:r>
            <a:endParaRPr lang="en-US" sz="1600" dirty="0"/>
          </a:p>
        </p:txBody>
      </p:sp>
      <p:sp>
        <p:nvSpPr>
          <p:cNvPr id="9" name="stat-card-3"/>
          <p:cNvSpPr/>
          <p:nvPr/>
        </p:nvSpPr>
        <p:spPr>
          <a:xfrm>
            <a:off x="8046720" y="1600200"/>
            <a:ext cx="3566160" cy="2468880"/>
          </a:xfrm>
          <a:prstGeom prst="roundRect">
            <a:avLst>
              <a:gd name="adj" fmla="val 2963"/>
            </a:avLst>
          </a:prstGeom>
          <a:solidFill>
            <a:srgbClr val="EDF2EE"/>
          </a:solidFill>
          <a:ln w="12700">
            <a:solidFill>
              <a:srgbClr val="EDF2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783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8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R$ 5,42 a 6,65/L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6060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ao distribuidor se a subvenção acabar (cenário 4) ou se a Petrobras for à paridade; hoje R$ 3,30/L</a:t>
            </a:r>
            <a:endParaRPr lang="en-US" sz="1600" dirty="0"/>
          </a:p>
        </p:txBody>
      </p:sp>
      <p:sp>
        <p:nvSpPr>
          <p:cNvPr id="12" name="proposal-box"/>
          <p:cNvSpPr/>
          <p:nvPr/>
        </p:nvSpPr>
        <p:spPr>
          <a:xfrm>
            <a:off x="548640" y="434340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0B3B2A"/>
          </a:solidFill>
          <a:ln w="12700">
            <a:solidFill>
              <a:srgbClr val="0B3B2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5262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CB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para a call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Hedge parcial por paridade de importação (HO NY Harbor e câmbio) para dezembro: cobre a perna em que a Petrobras converge à paridade. A decisão da Fazenda sobre a subvenção não é hedgeável.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Hoje a Petrobras recebe R$ 5,42/L, mas o distribuidor paga R$ 3,30/L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645920"/>
          <a:ext cx="6949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749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paridade de importação R$ 6,73/L (Paulínia, Abicom, 2/out)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7863840" y="1737360"/>
            <a:ext cx="3749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bruto da Petrobras ≈ R$ 5,42/L é inferência: R$ 3,30 + R$ 2,12.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subvenção tem duas camadas: R$ 1,12 original e R$ 1,00 criado em setembro.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subvenção e sem corte do preço bruto, o distribuidor paga R$ 2,12/L a mais.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Itaú BBA vê defasagem de cerca de 22% mesmo após o reajuste de setembro.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cenários: do status quo (R$ 3,30/L) ao teto de paridade (≈ R$ 6,65/L)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1737360"/>
                <a:gridCol w="1463040"/>
                <a:gridCol w="164592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Cenário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Gatilho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Distribuidor (R$/L, diesel A)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Variação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Plausibilidade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2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7211C"/>
                          </a:solidFill>
                        </a:rPr>
                        <a:t>1. Desescalada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Brent e crack caem; subvenção encolhe na mesma proporção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3,30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Média a baixa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7211C"/>
                          </a:solidFill>
                        </a:rPr>
                        <a:t>2. Status quo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Subvenção de R$ 2,12 renovada em 26/out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3,30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Alta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7211C"/>
                          </a:solidFill>
                        </a:rPr>
                        <a:t>3. Retirada parcial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Cai a camada de R$ 1,00 criada em setembro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4,30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+1,00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Média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B2D20"/>
                          </a:solidFill>
                        </a:rPr>
                        <a:t>4. Fim total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Subvenção zerada; Petrobras mantém o preço bruto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5,42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+2,12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Baixa a média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B2D20"/>
                          </a:solidFill>
                        </a:rPr>
                        <a:t>Teto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Subvenção zerada e preço levado à paridade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≈ 6,65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+3,3 a +3,4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Baixa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ao distribuidor de diesel A (média Petrobras, R$ por litro). Plausibilidade é leitura qualitativa, não probabilidade.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 status quo e o teto, o preço ao distribuidor sobe até R$ 3,35/L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554480"/>
          <a:ext cx="11064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primeiro gatilho é 26/out: a Fazenda decide se renova a subvenção</a:t>
            </a:r>
            <a:endParaRPr lang="en-US" sz="3200" dirty="0"/>
          </a:p>
        </p:txBody>
      </p:sp>
      <p:sp>
        <p:nvSpPr>
          <p:cNvPr id="3" name="timeline"/>
          <p:cNvSpPr/>
          <p:nvPr/>
        </p:nvSpPr>
        <p:spPr>
          <a:xfrm>
            <a:off x="822960" y="2743200"/>
            <a:ext cx="10515600" cy="0"/>
          </a:xfrm>
          <a:prstGeom prst="line">
            <a:avLst/>
          </a:prstGeom>
          <a:noFill/>
          <a:ln w="25400">
            <a:solidFill>
              <a:srgbClr val="4A5A66"/>
            </a:solidFill>
            <a:prstDash val="solid"/>
          </a:ln>
        </p:spPr>
      </p:sp>
      <p:sp>
        <p:nvSpPr>
          <p:cNvPr id="4" name="milestone-1"/>
          <p:cNvSpPr/>
          <p:nvPr/>
        </p:nvSpPr>
        <p:spPr>
          <a:xfrm>
            <a:off x="1325880" y="2560320"/>
            <a:ext cx="365760" cy="365760"/>
          </a:xfrm>
          <a:prstGeom prst="ellipse">
            <a:avLst/>
          </a:prstGeom>
          <a:solidFill>
            <a:srgbClr val="4A5A6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5/out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61188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salta: PTAX em R$ 5,00 (-4,1%) após o 1º turno</a:t>
            </a:r>
            <a:endParaRPr lang="en-US" sz="1400" dirty="0"/>
          </a:p>
        </p:txBody>
      </p:sp>
      <p:sp>
        <p:nvSpPr>
          <p:cNvPr id="7" name="milestone-2"/>
          <p:cNvSpPr/>
          <p:nvPr/>
        </p:nvSpPr>
        <p:spPr>
          <a:xfrm>
            <a:off x="3611880" y="2560320"/>
            <a:ext cx="365760" cy="365760"/>
          </a:xfrm>
          <a:prstGeom prst="ellipse">
            <a:avLst/>
          </a:prstGeom>
          <a:solidFill>
            <a:srgbClr val="4A5A6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8892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25/out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361188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turno: define câmbio e expectativa fiscal</a:t>
            </a:r>
            <a:endParaRPr lang="en-US" sz="1400" dirty="0"/>
          </a:p>
        </p:txBody>
      </p:sp>
      <p:sp>
        <p:nvSpPr>
          <p:cNvPr id="10" name="milestone-3"/>
          <p:cNvSpPr/>
          <p:nvPr/>
        </p:nvSpPr>
        <p:spPr>
          <a:xfrm>
            <a:off x="5897880" y="2560320"/>
            <a:ext cx="365760" cy="365760"/>
          </a:xfrm>
          <a:prstGeom prst="ellipse">
            <a:avLst/>
          </a:prstGeom>
          <a:solidFill>
            <a:srgbClr val="00873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7492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8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26/out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361188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Vence a subvenção de R$ 2,12 (Portaria 2.946); decisão de renovar</a:t>
            </a:r>
            <a:endParaRPr lang="en-US" sz="1400" dirty="0"/>
          </a:p>
        </p:txBody>
      </p:sp>
      <p:sp>
        <p:nvSpPr>
          <p:cNvPr id="13" name="milestone-4"/>
          <p:cNvSpPr/>
          <p:nvPr/>
        </p:nvSpPr>
        <p:spPr>
          <a:xfrm>
            <a:off x="8183880" y="2560320"/>
            <a:ext cx="365760" cy="365760"/>
          </a:xfrm>
          <a:prstGeom prst="ellipse">
            <a:avLst/>
          </a:prstGeom>
          <a:solidFill>
            <a:srgbClr val="4A5A6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6092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30/nov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0" y="361188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Vence o contrato HO dez/26 na NYMEX, referência do hedge</a:t>
            </a:r>
            <a:endParaRPr lang="en-US" sz="1400" dirty="0"/>
          </a:p>
        </p:txBody>
      </p:sp>
      <p:sp>
        <p:nvSpPr>
          <p:cNvPr id="16" name="milestone-5"/>
          <p:cNvSpPr/>
          <p:nvPr/>
        </p:nvSpPr>
        <p:spPr>
          <a:xfrm>
            <a:off x="10469880" y="2560320"/>
            <a:ext cx="365760" cy="365760"/>
          </a:xfrm>
          <a:prstGeom prst="ellipse">
            <a:avLst/>
          </a:prstGeom>
          <a:solidFill>
            <a:srgbClr val="0B5D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4692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Dez/26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0" y="361188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 de entrega a proteger</a:t>
            </a:r>
            <a:endParaRPr lang="en-US" sz="1400" dirty="0"/>
          </a:p>
        </p:txBody>
      </p:sp>
      <p:sp>
        <p:nvSpPr>
          <p:cNvPr id="19" name="calendar-note"/>
          <p:cNvSpPr/>
          <p:nvPr/>
        </p:nvSpPr>
        <p:spPr>
          <a:xfrm>
            <a:off x="548640" y="51663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EDF2EE"/>
          </a:solidFill>
          <a:ln w="12700">
            <a:solidFill>
              <a:srgbClr val="EDF2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303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subvenção funciona em janelas de 30 dias renováveis por portaria da Fazenda, sem data final fixa. A MP 1.391 (11/set) ainda precisa de votação no Congresso; conferir o prazo.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Dá para travar o preço internacional; não dá para travar a decisão da Fazenda</a:t>
            </a:r>
            <a:endParaRPr lang="en-US" sz="3200" dirty="0"/>
          </a:p>
        </p:txBody>
      </p:sp>
      <p:sp>
        <p:nvSpPr>
          <p:cNvPr id="3" name="col-hedgeavel"/>
          <p:cNvSpPr/>
          <p:nvPr/>
        </p:nvSpPr>
        <p:spPr>
          <a:xfrm>
            <a:off x="548640" y="1600200"/>
            <a:ext cx="5394960" cy="3383280"/>
          </a:xfrm>
          <a:prstGeom prst="roundRect">
            <a:avLst>
              <a:gd name="adj" fmla="val 2162"/>
            </a:avLst>
          </a:prstGeom>
          <a:solidFill>
            <a:srgbClr val="EDF2EE"/>
          </a:solidFill>
          <a:ln w="12700">
            <a:solidFill>
              <a:srgbClr val="EDF2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Hedgeável (mercado)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Heating oil NY Harbor e gasoil ICE (swap ou call)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Câmbio USD/BRL (NDF ou termo)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Frete e prêmio de importação, fixados em contrato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prazo flexíveis até a janela de dezembro</a:t>
            </a:r>
            <a:endParaRPr lang="en-US" sz="1800" dirty="0"/>
          </a:p>
        </p:txBody>
      </p:sp>
      <p:sp>
        <p:nvSpPr>
          <p:cNvPr id="6" name="col-nao-hedgeavel"/>
          <p:cNvSpPr/>
          <p:nvPr/>
        </p:nvSpPr>
        <p:spPr>
          <a:xfrm>
            <a:off x="6217920" y="1600200"/>
            <a:ext cx="5394960" cy="3383280"/>
          </a:xfrm>
          <a:prstGeom prst="roundRect">
            <a:avLst>
              <a:gd name="adj" fmla="val 2162"/>
            </a:avLst>
          </a:prstGeom>
          <a:solidFill>
            <a:srgbClr val="EDF2EE"/>
          </a:solidFill>
          <a:ln w="12700">
            <a:solidFill>
              <a:srgbClr val="EDF2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9B2D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hedgeável (política)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37744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Renovação ou fim da subvenção de R$ 2,12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Momento e tamanho do reajuste da Petrobras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Tributos e regras de mistura de biodiesel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Salto de política: não há instrumento líquido que o cubra</a:t>
            </a:r>
            <a:endParaRPr lang="en-US" sz="1800" dirty="0"/>
          </a:p>
        </p:txBody>
      </p:sp>
      <p:sp>
        <p:nvSpPr>
          <p:cNvPr id="9" name="bridge-box"/>
          <p:cNvSpPr/>
          <p:nvPr/>
        </p:nvSpPr>
        <p:spPr>
          <a:xfrm>
            <a:off x="548640" y="521208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0B3B2A"/>
          </a:solidFill>
          <a:ln w="12700">
            <a:solidFill>
              <a:srgbClr val="0B3B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5349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elo: quando a paridade sobe, a subvenção custa mais (R$ 7 bi/mês em benefícios) e a pressão por reajuste cresce. O hedge cobre a parte de mercado dessa mesma pressão.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dezembro a paridade pode ir de R$ 5,65 a R$ 8,58/L conforme HO e câmbio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60020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rule-hedge-1"/>
          <p:cNvSpPr/>
          <p:nvPr/>
        </p:nvSpPr>
        <p:spPr>
          <a:xfrm>
            <a:off x="7680960" y="160020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EDF2EE"/>
          </a:solidFill>
          <a:ln w="12700">
            <a:solidFill>
              <a:srgbClr val="EDF2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09560" y="173736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8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R$ 0,13/L</a:t>
            </a:r>
            <a:endParaRPr lang="en-US" sz="3000" dirty="0"/>
          </a:p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US$ 0,10/gal no HO</a:t>
            </a:r>
            <a:endParaRPr lang="en-US" sz="3000" dirty="0"/>
          </a:p>
        </p:txBody>
      </p:sp>
      <p:sp>
        <p:nvSpPr>
          <p:cNvPr id="6" name="rule-hedge-2"/>
          <p:cNvSpPr/>
          <p:nvPr/>
        </p:nvSpPr>
        <p:spPr>
          <a:xfrm>
            <a:off x="7680960" y="315468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EDF2EE"/>
          </a:solidFill>
          <a:ln w="12700">
            <a:solidFill>
              <a:srgbClr val="EDF2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09560" y="329184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8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R$ 0,12/L</a:t>
            </a:r>
            <a:endParaRPr lang="en-US" sz="3000" dirty="0"/>
          </a:p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R$ 0,10 no dólar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475488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Fórmula: HO ÷ 3,785 × câmbio + R$ 0,73 (prêmio, frete e custos, calibrado na paridade de R$ 6,73). Estimativa nossa, a validar com a mesa.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paridade o hedge importado trava o preço que a Petrobras passa a praticar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554480"/>
          <a:ext cx="74980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321040" y="17373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Paridade em escalada: o call evita R$ 17,8 mi a cada 10 mil m³.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Fim total: o call não dispara; a alta de R$ 2,12/L é decisão política.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Hedge parcial (30 a 40%) limita o custo do prêmio.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150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ao distribuidor × 10 milhões de litros. Prêmio do call a cotar com a mesa; não incluído.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argumento é forte e onde a Suzano vai questionar</a:t>
            </a:r>
            <a:endParaRPr lang="en-US" sz="3200" dirty="0"/>
          </a:p>
        </p:txBody>
      </p:sp>
      <p:sp>
        <p:nvSpPr>
          <p:cNvPr id="3" name="col-forte"/>
          <p:cNvSpPr/>
          <p:nvPr/>
        </p:nvSpPr>
        <p:spPr>
          <a:xfrm>
            <a:off x="548640" y="1600200"/>
            <a:ext cx="5394960" cy="4526280"/>
          </a:xfrm>
          <a:prstGeom prst="roundRect">
            <a:avLst>
              <a:gd name="adj" fmla="val 1616"/>
            </a:avLst>
          </a:prstGeom>
          <a:solidFill>
            <a:srgbClr val="EDF2EE"/>
          </a:solidFill>
          <a:ln w="12700">
            <a:solidFill>
              <a:srgbClr val="EDF2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teto, preço Petrobras = paridade: hedge quase perfeito.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do HO em backwardation: dezembro (US$ 4,4 a 4,6/gal) abaixo do spot.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o 2T26, o hedge de commodities da Suzano exclui diesel (a confirmar).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Brent a US$ 99 está acima da premissa de US$ 84 do guidance de custo caixa.</a:t>
            </a:r>
            <a:endParaRPr lang="en-US" sz="1800" dirty="0"/>
          </a:p>
        </p:txBody>
      </p:sp>
      <p:sp>
        <p:nvSpPr>
          <p:cNvPr id="6" name="col-fraco"/>
          <p:cNvSpPr/>
          <p:nvPr/>
        </p:nvSpPr>
        <p:spPr>
          <a:xfrm>
            <a:off x="6217920" y="1600200"/>
            <a:ext cx="5394960" cy="4526280"/>
          </a:xfrm>
          <a:prstGeom prst="roundRect">
            <a:avLst>
              <a:gd name="adj" fmla="val 1616"/>
            </a:avLst>
          </a:prstGeom>
          <a:solidFill>
            <a:srgbClr val="EDF2EE"/>
          </a:solidFill>
          <a:ln w="12700">
            <a:solidFill>
              <a:srgbClr val="EDF2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9B2D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Fraco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37744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cenário 4 o salto é político; o hedge importado não o cobre.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Paridade de R$ 6,7 contra R$ 3,30 pagos hoje: carregar swap custa caro.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Goldman vê Brent a US$ 85 em dezembro; a curva está em ~US$ 100.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de base: Petrobras pode ficar abaixo da paridade por meses.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 proposta: call de paridade em 30 a 40% do volume de dezembro</a:t>
            </a:r>
            <a:endParaRPr lang="en-US" sz="3200" dirty="0"/>
          </a:p>
        </p:txBody>
      </p:sp>
      <p:sp>
        <p:nvSpPr>
          <p:cNvPr id="3" name="option-card-1"/>
          <p:cNvSpPr/>
          <p:nvPr/>
        </p:nvSpPr>
        <p:spPr>
          <a:xfrm>
            <a:off x="548640" y="160020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EDF2EE"/>
          </a:solidFill>
          <a:ln w="12700">
            <a:solidFill>
              <a:srgbClr val="EDF2EE"/>
            </a:solidFill>
            <a:prstDash val="solid"/>
          </a:ln>
        </p:spPr>
      </p:sp>
      <p:sp>
        <p:nvSpPr>
          <p:cNvPr id="4" name="option-badge-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00873A"/>
          </a:solidFill>
          <a:ln w="12700">
            <a:solidFill>
              <a:srgbClr val="0087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8013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 de paridade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Cobre alta de HO e câmbio acima do strike. Perda máxima é o prêmio.</a:t>
            </a:r>
            <a:endParaRPr lang="en-US" sz="1800" dirty="0"/>
          </a:p>
        </p:txBody>
      </p:sp>
      <p:sp>
        <p:nvSpPr>
          <p:cNvPr id="8" name="option-card-2"/>
          <p:cNvSpPr/>
          <p:nvPr/>
        </p:nvSpPr>
        <p:spPr>
          <a:xfrm>
            <a:off x="4297680" y="160020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EDF2EE"/>
          </a:solidFill>
          <a:ln w="12700">
            <a:solidFill>
              <a:srgbClr val="EDF2EE"/>
            </a:solidFill>
            <a:prstDash val="solid"/>
          </a:ln>
        </p:spPr>
      </p:sp>
      <p:sp>
        <p:nvSpPr>
          <p:cNvPr id="9" name="option-badge-2"/>
          <p:cNvSpPr/>
          <p:nvPr/>
        </p:nvSpPr>
        <p:spPr>
          <a:xfrm>
            <a:off x="4526280" y="1783080"/>
            <a:ext cx="502920" cy="502920"/>
          </a:xfrm>
          <a:prstGeom prst="ellipse">
            <a:avLst/>
          </a:prstGeom>
          <a:solidFill>
            <a:srgbClr val="00873A"/>
          </a:solidFill>
          <a:ln w="12700">
            <a:solidFill>
              <a:srgbClr val="0087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8013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Swap opcional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51460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 parcela em que a Suzano quer orçamento fixo. Custa mais se a Petrobras ficar abaixo.</a:t>
            </a:r>
            <a:endParaRPr lang="en-US" sz="1800" dirty="0"/>
          </a:p>
        </p:txBody>
      </p:sp>
      <p:sp>
        <p:nvSpPr>
          <p:cNvPr id="13" name="option-card-3"/>
          <p:cNvSpPr/>
          <p:nvPr/>
        </p:nvSpPr>
        <p:spPr>
          <a:xfrm>
            <a:off x="8046720" y="160020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EDF2EE"/>
          </a:solidFill>
          <a:ln w="12700">
            <a:solidFill>
              <a:srgbClr val="EDF2EE"/>
            </a:solidFill>
            <a:prstDash val="solid"/>
          </a:ln>
        </p:spPr>
      </p:sp>
      <p:sp>
        <p:nvSpPr>
          <p:cNvPr id="14" name="option-badge-3"/>
          <p:cNvSpPr/>
          <p:nvPr/>
        </p:nvSpPr>
        <p:spPr>
          <a:xfrm>
            <a:off x="8275320" y="1783080"/>
            <a:ext cx="502920" cy="502920"/>
          </a:xfrm>
          <a:prstGeom prst="ellipse">
            <a:avLst/>
          </a:prstGeom>
          <a:solidFill>
            <a:srgbClr val="00873A"/>
          </a:solidFill>
          <a:ln w="12700">
            <a:solidFill>
              <a:srgbClr val="0087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18013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Fornecimento importado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51460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físico com preço travado: segurança de oferta se a defasagem reduzir importações.</a:t>
            </a:r>
            <a:endParaRPr lang="en-US" sz="1800" dirty="0"/>
          </a:p>
        </p:txBody>
      </p:sp>
      <p:sp>
        <p:nvSpPr>
          <p:cNvPr id="18" name="data-request"/>
          <p:cNvSpPr/>
          <p:nvPr/>
        </p:nvSpPr>
        <p:spPr>
          <a:xfrm>
            <a:off x="548640" y="457200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0B3B2A"/>
          </a:solidFill>
          <a:ln w="12700">
            <a:solidFill>
              <a:srgbClr val="0B3B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7548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FCB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à Suzano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 por base e mês · prazo · política de hedge e contabilidade · limites de crédito e ISDA · volume já coberto em petróleo e câmbio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 difíceis e respostas curtas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7315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Pergunta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Resposta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2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7211C"/>
                          </a:solidFill>
                        </a:rPr>
                        <a:t>Por que pagar R$ 6,8 se a Petrobras cobra R$ 3,30?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Não propomos travar 6,8 no volume todo. O call só paga se a paridade subir e cobre a fatia em que a Petrobras migra para ela.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7211C"/>
                          </a:solidFill>
                        </a:rPr>
                        <a:t>E se a subvenção for renovada?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Perde-se o prêmio. O call segue protegendo contra alta de HO e câmbio, independente da Fazenda.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7211C"/>
                          </a:solidFill>
                        </a:rPr>
                        <a:t>Qual o risco de base?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A Petrobras pode ficar abaixo da paridade por meses. Por isso hedge parcial e strike acima do termo.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7211C"/>
                          </a:solidFill>
                        </a:rPr>
                        <a:t>A curva já não precifica tudo?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Brent dez/26 ~US$ 100 contra US$ 85 do Goldman. É seguro de cauda, não aposta de preço.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7211C"/>
                          </a:solidFill>
                        </a:rPr>
                        <a:t>Serve para hedge accounting?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11C"/>
                          </a:solidFill>
                        </a:rPr>
                        <a:t>Depende da política da Suzano. Correlação paridade × preço pago precisa ser documentada.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Premissas e fontes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Premissas a validar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bruto Petrobras = R$ 3,30 + R$ 2,12 (inferência).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turno em 25/out; subvenção vence em 26/out.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dez/26 entre US$ 4,4 e 4,6/gal (fontes divergem).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Câmbio de dezembro R$ 5,10 (termo estimado).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Prêmio e frete R$ 0,73/L: calibrados, não cotados.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035040" y="1554480"/>
            <a:ext cx="557784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u="sng" dirty="0">
                <a:solidFill>
                  <a:srgbClr val="0B5D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Portaria 2.946: subvenção de R$ 2,12 (SpaceMoney)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u="sng" dirty="0">
                <a:solidFill>
                  <a:srgbClr val="0B5D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MP 1.391 (Senado)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u="sng" dirty="0">
                <a:solidFill>
                  <a:srgbClr val="0B5D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Abicom: gap R$ 3,27/L (Click Petróleo e Gás)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u="sng" dirty="0">
                <a:solidFill>
                  <a:srgbClr val="0B5D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Itaú BBA e defasagem (Suno)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u="sng" dirty="0">
                <a:solidFill>
                  <a:srgbClr val="0B5D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Analistas e paridade (InfoMoney)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u="sng" dirty="0">
                <a:solidFill>
                  <a:srgbClr val="0B5D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Suzano 2T26 (SEC 6-K)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u="sng" dirty="0">
                <a:solidFill>
                  <a:srgbClr val="0B5D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Curva Brent e Goldman (Discovery Alert)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u="sng" dirty="0">
                <a:solidFill>
                  <a:srgbClr val="0B5D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Dólar após o 1º turno (Poder360)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8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bra Diesel Hedge">
  <a:themeElements>
    <a:clrScheme name="Vibra Diesel Hedge">
      <a:dk1>
        <a:srgbClr val="17211C"/>
      </a:dk1>
      <a:lt1>
        <a:srgbClr val="FFFFFF"/>
      </a:lt1>
      <a:dk2>
        <a:srgbClr val="0B3B2A"/>
      </a:dk2>
      <a:lt2>
        <a:srgbClr val="EDF2EE"/>
      </a:lt2>
      <a:accent1>
        <a:srgbClr val="00873A"/>
      </a:accent1>
      <a:accent2>
        <a:srgbClr val="0B5D3B"/>
      </a:accent2>
      <a:accent3>
        <a:srgbClr val="9B2D20"/>
      </a:accent3>
      <a:accent4>
        <a:srgbClr val="4A5A66"/>
      </a:accent4>
      <a:accent5>
        <a:srgbClr val="FFCB05"/>
      </a:accent5>
      <a:accent6>
        <a:srgbClr val="00A859"/>
      </a:accent6>
      <a:hlink>
        <a:srgbClr val="0B5D3B"/>
      </a:hlink>
      <a:folHlink>
        <a:srgbClr val="4A5A66"/>
      </a:folHlink>
    </a:clrScheme>
    <a:fontScheme name="Vibra Diesel Hedg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Diesel pós-eleição: cenários de reajuste e hedge por paridade de importação</dc:title>
  <dc:subject>PptxGenJS Presentation</dc:subject>
  <dc:creator>Mesa de combustíveis</dc:creator>
  <cp:lastModifiedBy>Mesa de combustíveis</cp:lastModifiedBy>
  <cp:revision>1</cp:revision>
  <dcterms:created xsi:type="dcterms:W3CDTF">2026-10-06T19:42:10Z</dcterms:created>
  <dcterms:modified xsi:type="dcterms:W3CDTF">2026-10-06T19:42:10Z</dcterms:modified>
</cp:coreProperties>
</file>