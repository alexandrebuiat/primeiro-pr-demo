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b7bd044-955c-f3d7-0703-99334040b2dd}">
          <p14:sldIdLst>
            <p14:sldId id="256"/>
            <p14:sldId id="257"/>
          </p14:sldIdLst>
        </p14:section>
        <p14:section name="Cenários" id="{ac396498-2c1d-3a01-31fd-233d8ca48fb7}">
          <p14:sldIdLst>
            <p14:sldId id="258"/>
            <p14:sldId id="259"/>
            <p14:sldId id="260"/>
            <p14:sldId id="261"/>
          </p14:sldIdLst>
        </p14:section>
        <p14:section name="Hedge" id="{a8438e00-3876-1d9a-00e9-015c7f080130}">
          <p14:sldIdLst>
            <p14:sldId id="262"/>
            <p14:sldId id="263"/>
            <p14:sldId id="264"/>
            <p14:sldId id="265"/>
            <p14:sldId id="266"/>
          </p14:sldIdLst>
        </p14:section>
        <p14:section name="Apoio" id="{f3a98e73-98e6-e1af-53ff-fadd56a7322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Pago pelo distribuidor</c:v>
                </c:pt>
              </c:strCache>
            </c:strRef>
          </c:tx>
          <c:spPr>
            <a:solidFill>
              <a:srgbClr val="4A5A6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Diesel A, base Paulínia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Subvenção federal</c:v>
                </c:pt>
              </c:strCache>
            </c:strRef>
          </c:tx>
          <c:spPr>
            <a:solidFill>
              <a:srgbClr val="C75A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Diesel A, base Paulínia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2.12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Defasagem restante até a paridade</c:v>
                </c:pt>
              </c:strCache>
            </c:strRef>
          </c:tx>
          <c:spPr>
            <a:solidFill>
              <a:srgbClr val="9B2D2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Diesel A, base Paulínia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b"/>
        <c:majorGridlines>
          <c:spPr>
            <a:ln w="9525" cap="flat">
              <a:solidFill>
                <a:srgbClr val="DDE1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87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872"/>
                    </a:solidFill>
                    <a:latin typeface="Arial"/>
                  </a:rPr>
                  <a:t>R$ por litro de diesel A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1F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Distribuidor (diesel A, refinaria)</c:v>
                </c:pt>
              </c:strCache>
            </c:strRef>
          </c:tx>
          <c:spPr>
            <a:solidFill>
              <a:srgbClr val="C75A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1. Desescalada</c:v>
                  </c:pt>
                  <c:pt idx="1">
                    <c:v>2. Status quo</c:v>
                  </c:pt>
                  <c:pt idx="2">
                    <c:v>3. Parcial</c:v>
                  </c:pt>
                  <c:pt idx="3">
                    <c:v>4. Fim total</c:v>
                  </c:pt>
                  <c:pt idx="4">
                    <c:v>Teto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3.3</c:v>
                </c:pt>
                <c:pt idx="1">
                  <c:v>3.3</c:v>
                </c:pt>
                <c:pt idx="2">
                  <c:v>4.3</c:v>
                </c:pt>
                <c:pt idx="3">
                  <c:v>5.42</c:v>
                </c:pt>
                <c:pt idx="4">
                  <c:v>6.65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Bomba (S-10, ponto central)</c:v>
                </c:pt>
              </c:strCache>
            </c:strRef>
          </c:tx>
          <c:spPr>
            <a:solidFill>
              <a:srgbClr val="4A5A6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1. Desescalada</c:v>
                  </c:pt>
                  <c:pt idx="1">
                    <c:v>2. Status quo</c:v>
                  </c:pt>
                  <c:pt idx="2">
                    <c:v>3. Parcial</c:v>
                  </c:pt>
                  <c:pt idx="3">
                    <c:v>4. Fim total</c:v>
                  </c:pt>
                  <c:pt idx="4">
                    <c:v>Teto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7.25</c:v>
                </c:pt>
                <c:pt idx="1">
                  <c:v>7.4</c:v>
                </c:pt>
                <c:pt idx="2">
                  <c:v>8.2</c:v>
                </c:pt>
                <c:pt idx="3">
                  <c:v>9.15</c:v>
                </c:pt>
                <c:pt idx="4">
                  <c:v>10.2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DDE1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87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872"/>
                    </a:solidFill>
                    <a:latin typeface="Arial"/>
                  </a:rPr>
                  <a:t>R$ por litro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B1F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Paridade de importação estimada (R$/L)</c:v>
                </c:pt>
              </c:strCache>
            </c:strRef>
          </c:tx>
          <c:spPr>
            <a:solidFill>
              <a:srgbClr val="C75A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Desescalada: HO 3,80 e R$ 4,90</c:v>
                  </c:pt>
                  <c:pt idx="1">
                    <c:v>Base: HO 4,50 e R$ 5,10</c:v>
                  </c:pt>
                  <c:pt idx="2">
                    <c:v>Escalada: HO 5,50 e R$ 5,40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5.65</c:v>
                </c:pt>
                <c:pt idx="1">
                  <c:v>6.79</c:v>
                </c:pt>
                <c:pt idx="2">
                  <c:v>8.58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DDE1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87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872"/>
                    </a:solidFill>
                    <a:latin typeface="Arial"/>
                  </a:rPr>
                  <a:t>R$ por litro de diesel A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proteção (preço Petrobras)</c:v>
                </c:pt>
              </c:strCache>
            </c:strRef>
          </c:tx>
          <c:spPr>
            <a:solidFill>
              <a:srgbClr val="4A5A6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Status quo</c:v>
                  </c:pt>
                  <c:pt idx="1">
                    <c:v>Parcial</c:v>
                  </c:pt>
                  <c:pt idx="2">
                    <c:v>Fim total</c:v>
                  </c:pt>
                  <c:pt idx="3">
                    <c:v>Paridade (base)</c:v>
                  </c:pt>
                  <c:pt idx="4">
                    <c:v>Paridade (escalada)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</c:v>
                </c:pt>
                <c:pt idx="1">
                  <c:v>43</c:v>
                </c:pt>
                <c:pt idx="2">
                  <c:v>54.2</c:v>
                </c:pt>
                <c:pt idx="3">
                  <c:v>68</c:v>
                </c:pt>
                <c:pt idx="4">
                  <c:v>85.8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call de paridade (strike R$ 6,8; sem prêmio)</c:v>
                </c:pt>
              </c:strCache>
            </c:strRef>
          </c:tx>
          <c:spPr>
            <a:solidFill>
              <a:srgbClr val="1F6F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1F2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Status quo</c:v>
                  </c:pt>
                  <c:pt idx="1">
                    <c:v>Parcial</c:v>
                  </c:pt>
                  <c:pt idx="2">
                    <c:v>Fim total</c:v>
                  </c:pt>
                  <c:pt idx="3">
                    <c:v>Paridade (base)</c:v>
                  </c:pt>
                  <c:pt idx="4">
                    <c:v>Paridade (escalada)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</c:v>
                </c:pt>
                <c:pt idx="1">
                  <c:v>43</c:v>
                </c:pt>
                <c:pt idx="2">
                  <c:v>54.2</c:v>
                </c:pt>
                <c:pt idx="3">
                  <c:v>68</c:v>
                </c:pt>
                <c:pt idx="4">
                  <c:v>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1B1F2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F2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DE1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C687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C6872"/>
                    </a:solidFill>
                    <a:latin typeface="Arial"/>
                  </a:rPr>
                  <a:t>R$ milhões por 10 mil m³ em dezembro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B1F2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da call: a Suzano pediu hedge de diesel A (referência Petrobras) e não temos produto direto. A tese é oferecer proteção por paridade de importação para dezembro, com franqueza sobre onde ela protege e onde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números para abrir: R$ 2,12 de subvenção, R$ 3,27 de defasagem e a faixa de R$ 9 a 10 na bomba. A mensagem: o risco de dezembro é político e de mercado ao mesmo tempo; só a parte de mercado é hedgeável.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base de cálculo de todos os cenários. O preço bruto de R$ 5,42 é uma inferência (preço líquido mais subvenção) e precisa ser confirmado com a Petrobras ou com a tabela de preços.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Leitura: status quo é o mais provável no curto prazo porque o governo renovou a subvenção duas vezes e o 2º turno pesa. O cenário 4 exige uma decisão fiscal forte. O teto é um limite matemático.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centrais das faixas da tabela. Variação na bomba = 85% da variação na refinaria.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subvenção for renovada, o cenário 2 se mantém por mais 30 dias. A decisão cai no dia seguinte ao 2º turno, então o desfecho eleitoral influencia câmbio e fiscal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Franqueza ajuda a credibilidade: dizer logo que a decisão política não tem instrumento. O argumento é a correlação entre paridade alta e reajuste.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 de dezembro está entre US$ 4,4 e 4,6/gal conforme a fonte (curva em backwardation). Câmbio base de R$ 5,10 inclui pontos de termo estimados; o Focus projetava R$ 5,20 antes do 1º turno.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forte é o teto e a escalada. No cenário 4 o hedge importado não paga, a menos que a paridade suba também. Dizer isso na call e vender como seguro de cauda e de convergência.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Preparar respostas para os pontos fracos. A recomendação é call, não swap, e cobertura parcial.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Prêmio e strike dependem de cotação da mesa. Hedge accounting e registro do derivativo devem passar por tesouraria, contabilidade e jurídico da Suzano.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63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5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call Suzano · uso interno · 6/out/2026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pacemoney.com.br/economia/governo-estende-subvencao-diesel-30-dias" TargetMode="External"/><Relationship Id="rId2" Type="http://schemas.openxmlformats.org/officeDocument/2006/relationships/hyperlink" Target="https://www12.senado.leg.br/noticias/materias/2026/09/14/medida-provisoria-estende-subsidio-para-baratear-diesel" TargetMode="External"/><Relationship Id="rId3" Type="http://schemas.openxmlformats.org/officeDocument/2006/relationships/hyperlink" Target="https://clickpetroleoegas.com.br/diesel-da-petrobras-diferenca-para-o-preco-de-importacao-cai-de-r-3-67-para-r-3-27-por-litro-em-um-dia-diz-abicom-e-defasagem-recua-a-100-btl96/" TargetMode="External"/><Relationship Id="rId4" Type="http://schemas.openxmlformats.org/officeDocument/2006/relationships/hyperlink" Target="https://www.suno.com.br/noticias/itau-bba-defasagem-corte-diesel-petrobras-petr4/" TargetMode="External"/><Relationship Id="rId5" Type="http://schemas.openxmlformats.org/officeDocument/2006/relationships/hyperlink" Target="https://www.infomoney.com.br/mercados/petrobras-petr4-alta-de-r-1-no-diesel-e-suficiente-analistas-veem-defasagem-persistente/" TargetMode="External"/><Relationship Id="rId6" Type="http://schemas.openxmlformats.org/officeDocument/2006/relationships/hyperlink" Target="https://www.otempo.com.br/economia/2026/10/5/preco-do-diesel-no-brasil-chega-a-r-7-35-com-retomada-da-guerra-no-ira" TargetMode="External"/><Relationship Id="rId7" Type="http://schemas.openxmlformats.org/officeDocument/2006/relationships/hyperlink" Target="https://www.sec.gov/Archives/edgar/data/0000909327/000090932726000064/earningsrelease_2t26xen.htm" TargetMode="External"/><Relationship Id="rId8" Type="http://schemas.openxmlformats.org/officeDocument/2006/relationships/hyperlink" Target="https://discoveryalert.com/analysis/oil-price-prediction-2027-brent-october-2026/" TargetMode="External"/><Relationship Id="rId9" Type="http://schemas.openxmlformats.org/officeDocument/2006/relationships/hyperlink" Target="https://www.poder360.com.br/poder-economia/dolar-cai-mais-de-4-e-fica-abaixo-dos-r-5-apos-1o-turno/" TargetMode="Externa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Diesel pós-eleição: cenários de reajuste e hedge por paridade de importação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5DB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a call com a Suzano · 6 de outubro de 2026 · material de uso interno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subvenção vence um dia depois do 2º turno e define o diesel de dezembro</a:t>
            </a:r>
            <a:endParaRPr lang="en-US" sz="3200" dirty="0"/>
          </a:p>
        </p:txBody>
      </p:sp>
      <p:sp>
        <p:nvSpPr>
          <p:cNvPr id="3" name="stat-card-1"/>
          <p:cNvSpPr/>
          <p:nvPr/>
        </p:nvSpPr>
        <p:spPr>
          <a:xfrm>
            <a:off x="548640" y="1600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7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R$ 2,12/L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subvenção federal que segura o preço ao distribuidor em R$ 3,30/L (vence em 26/out, renovável)</a:t>
            </a:r>
            <a:endParaRPr lang="en-US" sz="1600" dirty="0"/>
          </a:p>
        </p:txBody>
      </p:sp>
      <p:sp>
        <p:nvSpPr>
          <p:cNvPr id="6" name="stat-card-2"/>
          <p:cNvSpPr/>
          <p:nvPr/>
        </p:nvSpPr>
        <p:spPr>
          <a:xfrm>
            <a:off x="4297680" y="1600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7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R$ 3,27/L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606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 média da Petrobras frente à paridade de importação (Abicom, 2/out); paridade em Paulínia R$ 6,73/L</a:t>
            </a:r>
            <a:endParaRPr lang="en-US" sz="1600" dirty="0"/>
          </a:p>
        </p:txBody>
      </p:sp>
      <p:sp>
        <p:nvSpPr>
          <p:cNvPr id="9" name="stat-card-3"/>
          <p:cNvSpPr/>
          <p:nvPr/>
        </p:nvSpPr>
        <p:spPr>
          <a:xfrm>
            <a:off x="8046720" y="1600200"/>
            <a:ext cx="3566160" cy="2468880"/>
          </a:xfrm>
          <a:prstGeom prst="roundRect">
            <a:avLst>
              <a:gd name="adj" fmla="val 2963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7830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7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 a 10/L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606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na bomba (S-10) se a subvenção acabar ou se a Petrobras for à paridade; hoje R$ 7,35/L</a:t>
            </a:r>
            <a:endParaRPr lang="en-US" sz="1600" dirty="0"/>
          </a:p>
        </p:txBody>
      </p:sp>
      <p:sp>
        <p:nvSpPr>
          <p:cNvPr id="12" name="proposal-box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26333D"/>
          </a:solidFill>
          <a:ln w="12700">
            <a:solidFill>
              <a:srgbClr val="263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5262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para a call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parcial por paridade de importação (HO NY Harbor e câmbio) para dezembro: cobre a perna em que a Petrobras converge à paridade. A decisão da Fazenda sobre a subvenção não é hedgeável.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a Petrobras recebe R$ 5,42/L, mas o distribuidor paga R$ 3,30/L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4592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074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paridade de importação R$ 6,73/L (Paulínia, Abicom, 2/out)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1737360"/>
            <a:ext cx="3749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bruto da Petrobras ≈ R$ 5,42/L é inferência: R$ 3,30 + R$ 2,12.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subvenção tem duas camadas: R$ 1,12 original e R$ 1,00 criado em setembro.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subvenção e sem corte do preço bruto, o distribuidor paga R$ 2,12/L a mais.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Itaú BBA vê defasagem de cerca de 22% mesmo após o reajuste de setembro.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cenários: do status quo (R$ 7,4) ao teto de paridade (R$ 10,2 na bomba)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1645920"/>
                <a:gridCol w="1280160"/>
                <a:gridCol w="1463040"/>
                <a:gridCol w="15544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Cenário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Gatilho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Distribuidor (R$/L, diesel A)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Variação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Bomba S-10 (R$/L)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Plausibilidade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1. Desescalada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Brent e crack caem; subvenção encolhe na mesma proporção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3,30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7,10 a 7,35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Média a baixa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2. Status quo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Subvenção de R$ 2,12 renovada em 26/out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3,30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7,25 a 7,60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Alta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3. Retirada parcial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Cai a camada de R$ 1,00 criada em setembro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4,30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+1,00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≈ 8,20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Média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B2D20"/>
                          </a:solidFill>
                        </a:rPr>
                        <a:t>4. Fim 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Subvenção zerada; Petrobras mantém o preço bruto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5,42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+2,12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≈ 9,15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Baixa a média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B2D20"/>
                          </a:solidFill>
                        </a:rPr>
                        <a:t>Teto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Subvenção zerada e preço levado à paridade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≈ 6,65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+3,3 a +3,4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≈ 10,1 a 10,3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Baixa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= 85% da variação na refinaria (mistura de ~15% de biodiesel e tributos fixos por litro, a confirmar). Base: R$ 7,35/L (ANP). Plausibilidade é leitura qualitativa, não probabilidade.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 status quo e o teto, a bomba sobe cerca de R$ 2,8/L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primeiro gatilho é 26/out: a Fazenda decide se renova a subvenção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822960" y="2743200"/>
            <a:ext cx="10515600" cy="0"/>
          </a:xfrm>
          <a:prstGeom prst="line">
            <a:avLst/>
          </a:prstGeom>
          <a:noFill/>
          <a:ln w="25400">
            <a:solidFill>
              <a:srgbClr val="4A5A66"/>
            </a:solidFill>
            <a:prstDash val="solid"/>
          </a:ln>
        </p:spPr>
      </p:sp>
      <p:sp>
        <p:nvSpPr>
          <p:cNvPr id="4" name="milestone-1"/>
          <p:cNvSpPr/>
          <p:nvPr/>
        </p:nvSpPr>
        <p:spPr>
          <a:xfrm>
            <a:off x="1325880" y="2560320"/>
            <a:ext cx="365760" cy="365760"/>
          </a:xfrm>
          <a:prstGeom prst="ellipse">
            <a:avLst/>
          </a:prstGeom>
          <a:solidFill>
            <a:srgbClr val="4A5A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5/out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11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salta: PTAX em R$ 5,00 (-4,1%) após o 1º turno</a:t>
            </a:r>
            <a:endParaRPr lang="en-US" sz="1400" dirty="0"/>
          </a:p>
        </p:txBody>
      </p:sp>
      <p:sp>
        <p:nvSpPr>
          <p:cNvPr id="7" name="milestone-2"/>
          <p:cNvSpPr/>
          <p:nvPr/>
        </p:nvSpPr>
        <p:spPr>
          <a:xfrm>
            <a:off x="3611880" y="2560320"/>
            <a:ext cx="365760" cy="365760"/>
          </a:xfrm>
          <a:prstGeom prst="ellipse">
            <a:avLst/>
          </a:prstGeom>
          <a:solidFill>
            <a:srgbClr val="4A5A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25/out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611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turno: define câmbio e expectativa fiscal</a:t>
            </a:r>
            <a:endParaRPr lang="en-US" sz="1400" dirty="0"/>
          </a:p>
        </p:txBody>
      </p:sp>
      <p:sp>
        <p:nvSpPr>
          <p:cNvPr id="10" name="milestone-3"/>
          <p:cNvSpPr/>
          <p:nvPr/>
        </p:nvSpPr>
        <p:spPr>
          <a:xfrm>
            <a:off x="5897880" y="2560320"/>
            <a:ext cx="365760" cy="365760"/>
          </a:xfrm>
          <a:prstGeom prst="ellipse">
            <a:avLst/>
          </a:prstGeom>
          <a:solidFill>
            <a:srgbClr val="C75A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26/out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3611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a subvenção de R$ 2,12 (Portaria 2.946); decisão de renovar</a:t>
            </a:r>
            <a:endParaRPr lang="en-US" sz="1400" dirty="0"/>
          </a:p>
        </p:txBody>
      </p:sp>
      <p:sp>
        <p:nvSpPr>
          <p:cNvPr id="13" name="milestone-4"/>
          <p:cNvSpPr/>
          <p:nvPr/>
        </p:nvSpPr>
        <p:spPr>
          <a:xfrm>
            <a:off x="8183880" y="2560320"/>
            <a:ext cx="365760" cy="365760"/>
          </a:xfrm>
          <a:prstGeom prst="ellipse">
            <a:avLst/>
          </a:prstGeom>
          <a:solidFill>
            <a:srgbClr val="4A5A6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30/nov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3611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o contrato HO dez/26 na NYMEX, referência do hedge</a:t>
            </a:r>
            <a:endParaRPr lang="en-US" sz="1400" dirty="0"/>
          </a:p>
        </p:txBody>
      </p:sp>
      <p:sp>
        <p:nvSpPr>
          <p:cNvPr id="16" name="milestone-5"/>
          <p:cNvSpPr/>
          <p:nvPr/>
        </p:nvSpPr>
        <p:spPr>
          <a:xfrm>
            <a:off x="10469880" y="2560320"/>
            <a:ext cx="365760" cy="365760"/>
          </a:xfrm>
          <a:prstGeom prst="ellipse">
            <a:avLst/>
          </a:prstGeom>
          <a:solidFill>
            <a:srgbClr val="1F6F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6920" y="3108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Dez/26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36118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entrega a proteger</a:t>
            </a:r>
            <a:endParaRPr lang="en-US" sz="1400" dirty="0"/>
          </a:p>
        </p:txBody>
      </p:sp>
      <p:sp>
        <p:nvSpPr>
          <p:cNvPr id="19" name="calendar-note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subvenção funciona em janelas de 30 dias renováveis por portaria da Fazenda, sem data final fixa. A MP 1.391 (11/set) ainda precisa de votação no Congresso; conferir o prazo.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 para travar o preço internacional; não dá para travar a decisão da Fazenda</a:t>
            </a:r>
            <a:endParaRPr lang="en-US" sz="3200" dirty="0"/>
          </a:p>
        </p:txBody>
      </p:sp>
      <p:sp>
        <p:nvSpPr>
          <p:cNvPr id="3" name="col-hedgeavel"/>
          <p:cNvSpPr/>
          <p:nvPr/>
        </p:nvSpPr>
        <p:spPr>
          <a:xfrm>
            <a:off x="548640" y="16002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Hedgeável (mercado)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oil NY Harbor e gasoil ICE (swap ou call)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USD/BRL (NDF ou termo)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 e prêmio de importação, fixados em contrato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 prazo flexíveis até a janela de dezembro</a:t>
            </a:r>
            <a:endParaRPr lang="en-US" sz="1800" dirty="0"/>
          </a:p>
        </p:txBody>
      </p:sp>
      <p:sp>
        <p:nvSpPr>
          <p:cNvPr id="6" name="col-nao-hedgeavel"/>
          <p:cNvSpPr/>
          <p:nvPr/>
        </p:nvSpPr>
        <p:spPr>
          <a:xfrm>
            <a:off x="6217920" y="160020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hedgeável (política)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Renovação ou fim da subvenção de R$ 2,12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e tamanho do reajuste da Petrobras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Tributos e regras de mistura de biodiesel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 de política: não há instrumento líquido que o cubra</a:t>
            </a:r>
            <a:endParaRPr lang="en-US" sz="1800" dirty="0"/>
          </a:p>
        </p:txBody>
      </p:sp>
      <p:sp>
        <p:nvSpPr>
          <p:cNvPr id="9" name="bridge-box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6333D"/>
          </a:solidFill>
          <a:ln w="12700">
            <a:solidFill>
              <a:srgbClr val="263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elo: quando a paridade sobe, a subvenção custa mais (R$ 7 bi/mês em benefícios) e a pressão por reajuste cresce. O hedge cobre a parte de mercado dessa mesma pressão.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dezembro a paridade pode ir de R$ 5,65 a R$ 8,58/L conforme HO e câmbio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ule-hedge-1"/>
          <p:cNvSpPr/>
          <p:nvPr/>
        </p:nvSpPr>
        <p:spPr>
          <a:xfrm>
            <a:off x="7680960" y="160020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09560" y="17373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R$ 0,13/L</a:t>
            </a:r>
            <a:endParaRPr lang="en-US" sz="3000" dirty="0"/>
          </a:p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US$ 0,10/gal no HO</a:t>
            </a:r>
            <a:endParaRPr lang="en-US" sz="3000" dirty="0"/>
          </a:p>
        </p:txBody>
      </p:sp>
      <p:sp>
        <p:nvSpPr>
          <p:cNvPr id="6" name="rule-hedge-2"/>
          <p:cNvSpPr/>
          <p:nvPr/>
        </p:nvSpPr>
        <p:spPr>
          <a:xfrm>
            <a:off x="7680960" y="31546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32918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75A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R$ 0,12/L</a:t>
            </a:r>
            <a:endParaRPr lang="en-US" sz="3000" dirty="0"/>
          </a:p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R$ 0,10 no dólar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47548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HO ÷ 3,785 × câmbio + R$ 0,73 (prêmio, frete e custos, calibrado na paridade de R$ 6,73). Estimativa nossa, a validar com a mesa.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paridade o hedge importado trava o preço que a Petrobras passa a praticar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7498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321040" y="17373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 em escalada: o call evita R$ 17,8 mi a cada 10 mil m³.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total: o call não dispara; a alta de R$ 2,12/L é decisão política.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parcial (30 a 40%) limita o custo do prêmio.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15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ao distribuidor × 10 milhões de litros. Prêmio do call a cotar com a mesa; não incluído.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argumento é forte e onde a Suzano vai questionar</a:t>
            </a:r>
            <a:endParaRPr lang="en-US" sz="3200" dirty="0"/>
          </a:p>
        </p:txBody>
      </p:sp>
      <p:sp>
        <p:nvSpPr>
          <p:cNvPr id="3" name="col-forte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teto, preço Petrobras = paridade: hedge quase perfeito.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do HO em backwardation: dezembro (US$ 4,4 a 4,6/gal) abaixo do spot.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o 2T26, o hedge de commodities da Suzano exclui diesel (a confirmar).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a US$ 99 está acima da premissa de US$ 84 do guidance de custo caixa.</a:t>
            </a:r>
            <a:endParaRPr lang="en-US" sz="1800" dirty="0"/>
          </a:p>
        </p:txBody>
      </p:sp>
      <p:sp>
        <p:nvSpPr>
          <p:cNvPr id="6" name="col-fraco"/>
          <p:cNvSpPr/>
          <p:nvPr/>
        </p:nvSpPr>
        <p:spPr>
          <a:xfrm>
            <a:off x="6217920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B2D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cenário 4 o salto é político; o hedge importado não o cobre.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 de R$ 6,7 contra R$ 3,30 pagos hoje: carregar swap custa caro.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vê Brent a US$ 85 em dezembro; a curva está em ~US$ 100.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base: Petrobras pode ficar abaixo da paridade por meses.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proposta: call de paridade em 30 a 40% do volume de dezembro</a:t>
            </a:r>
            <a:endParaRPr lang="en-US" sz="3200" dirty="0"/>
          </a:p>
        </p:txBody>
      </p:sp>
      <p:sp>
        <p:nvSpPr>
          <p:cNvPr id="3" name="option-card-1"/>
          <p:cNvSpPr/>
          <p:nvPr/>
        </p:nvSpPr>
        <p:spPr>
          <a:xfrm>
            <a:off x="54864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4" name="option-badge-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C75A0B"/>
          </a:solidFill>
          <a:ln w="12700">
            <a:solidFill>
              <a:srgbClr val="C75A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de paridade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alta de HO e câmbio acima do strike. Perda máxima é o prêmio.</a:t>
            </a:r>
            <a:endParaRPr lang="en-US" sz="1800" dirty="0"/>
          </a:p>
        </p:txBody>
      </p:sp>
      <p:sp>
        <p:nvSpPr>
          <p:cNvPr id="8" name="option-card-2"/>
          <p:cNvSpPr/>
          <p:nvPr/>
        </p:nvSpPr>
        <p:spPr>
          <a:xfrm>
            <a:off x="429768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9" name="option-badge-2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C75A0B"/>
          </a:solidFill>
          <a:ln w="12700">
            <a:solidFill>
              <a:srgbClr val="C75A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opcional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parcela em que a Suzano quer orçamento fixo. Custa mais se a Petrobras ficar abaixo.</a:t>
            </a:r>
            <a:endParaRPr lang="en-US" sz="1800" dirty="0"/>
          </a:p>
        </p:txBody>
      </p:sp>
      <p:sp>
        <p:nvSpPr>
          <p:cNvPr id="13" name="option-card-3"/>
          <p:cNvSpPr/>
          <p:nvPr/>
        </p:nvSpPr>
        <p:spPr>
          <a:xfrm>
            <a:off x="8046720" y="160020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14" name="option-badge-3"/>
          <p:cNvSpPr/>
          <p:nvPr/>
        </p:nvSpPr>
        <p:spPr>
          <a:xfrm>
            <a:off x="8275320" y="1783080"/>
            <a:ext cx="502920" cy="502920"/>
          </a:xfrm>
          <a:prstGeom prst="ellipse">
            <a:avLst/>
          </a:prstGeom>
          <a:solidFill>
            <a:srgbClr val="C75A0B"/>
          </a:solidFill>
          <a:ln w="12700">
            <a:solidFill>
              <a:srgbClr val="C75A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Fornecimento importado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5146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físico com preço travado: segurança de oferta se a defasagem reduzir importações.</a:t>
            </a:r>
            <a:endParaRPr lang="en-US" sz="1800" dirty="0"/>
          </a:p>
        </p:txBody>
      </p:sp>
      <p:sp>
        <p:nvSpPr>
          <p:cNvPr id="18" name="data-request"/>
          <p:cNvSpPr/>
          <p:nvPr/>
        </p:nvSpPr>
        <p:spPr>
          <a:xfrm>
            <a:off x="548640" y="457200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26333D"/>
          </a:solidFill>
          <a:ln w="12700">
            <a:solidFill>
              <a:srgbClr val="263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à Suzano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por base e mês · prazo · política de hedge e contabilidade · limites de crédito e ISDA · volume já coberto em petróleo e câmbio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difíceis e respostas curtas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7315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Pergunta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Resposta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33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Por que pagar R$ 6,8 se a Petrobras cobra R$ 3,30?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Não propomos travar 6,8 no volume todo. O call só paga se a paridade subir e cobre a fatia em que a Petrobras migra para ela.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E se a subvenção for renovada?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Perde-se o prêmio. O call segue protegendo contra alta de HO e câmbio, independente da Fazenda.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Qual o risco de base?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A Petrobras pode ficar abaixo da paridade por meses. Por isso hedge parcial e strike acima do termo.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A curva já não precifica tudo?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Brent dez/26 ~US$ 100 contra US$ 85 do Goldman. É seguro de cauda, não aposta de preço.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1F23"/>
                          </a:solidFill>
                        </a:rPr>
                        <a:t>Serve para hedge accounting?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1F23"/>
                          </a:solidFill>
                        </a:rPr>
                        <a:t>Depende da política da Suzano. Correlação paridade × preço pago precisa ser documentada.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e fontes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7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a validar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bruto Petrobras = R$ 3,30 + R$ 2,12 (inferência).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= 85% da variação na refinaria (B15, tributos fixos).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turno em 25/out; subvenção vence em 26/out.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dez/26 entre US$ 4,4 e 4,6/gal (fontes divergem).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Câmbio de dezembro R$ 5,10 (termo estimado).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e frete R$ 0,73/L: calibrados, não cotados.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1554480"/>
            <a:ext cx="55778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75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Portaria 2.946: subvenção de R$ 2,12 (SpaceMoney)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 1.391 (Senado)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Abicom: gap R$ 3,27/L (Click Petróleo e Gás)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Itaú BBA e defasagem (Suno)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Analistas e paridade (InfoMoney)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Diesel R$ 7,35 (O Tempo)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Suzano 2T26 (SEC 6-K)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Curva Brent e Goldman (Discovery Alert)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u="sng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Dólar após o 1º turno (Poder360)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esel Hedge">
  <a:themeElements>
    <a:clrScheme name="Diesel Hedge">
      <a:dk1>
        <a:srgbClr val="1B1F23"/>
      </a:dk1>
      <a:lt1>
        <a:srgbClr val="FFFFFF"/>
      </a:lt1>
      <a:dk2>
        <a:srgbClr val="26333D"/>
      </a:dk2>
      <a:lt2>
        <a:srgbClr val="EEF0F1"/>
      </a:lt2>
      <a:accent1>
        <a:srgbClr val="C75A0B"/>
      </a:accent1>
      <a:accent2>
        <a:srgbClr val="1F6F6B"/>
      </a:accent2>
      <a:accent3>
        <a:srgbClr val="9B2D20"/>
      </a:accent3>
      <a:accent4>
        <a:srgbClr val="4A5A66"/>
      </a:accent4>
      <a:accent5>
        <a:srgbClr val="E9B44C"/>
      </a:accent5>
      <a:accent6>
        <a:srgbClr val="2F855A"/>
      </a:accent6>
      <a:hlink>
        <a:srgbClr val="1F6F6B"/>
      </a:hlink>
      <a:folHlink>
        <a:srgbClr val="4A5A66"/>
      </a:folHlink>
    </a:clrScheme>
    <a:fontScheme name="Diesel Hed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Diesel pós-eleição: cenários de reajuste e hedge por paridade de importação</dc:title>
  <dc:subject>PptxGenJS Presentation</dc:subject>
  <dc:creator>Mesa de combustíveis</dc:creator>
  <cp:lastModifiedBy>Mesa de combustíveis</cp:lastModifiedBy>
  <cp:revision>1</cp:revision>
  <dcterms:created xsi:type="dcterms:W3CDTF">2026-10-06T19:28:32Z</dcterms:created>
  <dcterms:modified xsi:type="dcterms:W3CDTF">2026-10-06T19:28:32Z</dcterms:modified>
</cp:coreProperties>
</file>